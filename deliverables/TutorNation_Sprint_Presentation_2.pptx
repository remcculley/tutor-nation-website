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2" r:id="rId5"/>
    <p:sldId id="321" r:id="rId6"/>
    <p:sldId id="329" r:id="rId7"/>
    <p:sldId id="323" r:id="rId8"/>
    <p:sldId id="328" r:id="rId9"/>
    <p:sldId id="324" r:id="rId10"/>
    <p:sldId id="325" r:id="rId11"/>
    <p:sldId id="326" r:id="rId12"/>
    <p:sldId id="327" r:id="rId13"/>
    <p:sldId id="3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38C07-7A5C-1926-0FE0-69BF903C0C86}" v="876" dt="2026-03-23T18:03:14.818"/>
    <p1510:client id="{6B30CC71-0923-A3CC-68E9-4CE9AAAFEEFB}" v="590" dt="2026-03-24T17:48:24.527"/>
    <p1510:client id="{A18E9404-26D8-9D32-A436-C8003F7CB116}" v="101" dt="2026-03-23T19:54:49"/>
    <p1510:client id="{A9FB22FD-C19C-2555-4AE0-26C0B11B883A}" v="217" dt="2026-03-24T17:46:12.603"/>
    <p1510:client id="{C6528333-0810-251B-71D0-C1B89AB4853B}" v="128" dt="2026-03-24T17:34:57.461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/>
              <a:t>Tutor Nation Sprint 2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DBF34-5100-CABE-8775-575E54D71A0C}"/>
              </a:ext>
            </a:extLst>
          </p:cNvPr>
          <p:cNvSpPr txBox="1"/>
          <p:nvPr/>
        </p:nvSpPr>
        <p:spPr>
          <a:xfrm>
            <a:off x="1317141" y="5934371"/>
            <a:ext cx="55865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solidFill>
                  <a:schemeClr val="bg1"/>
                </a:solidFill>
              </a:rPr>
              <a:t>Github</a:t>
            </a:r>
            <a:r>
              <a:rPr lang="en-US" sz="1400">
                <a:solidFill>
                  <a:schemeClr val="bg1"/>
                </a:solidFill>
              </a:rPr>
              <a:t> URL: https://github.com/ahconnors/Tutor_Nation</a:t>
            </a:r>
          </a:p>
          <a:p>
            <a:r>
              <a:rPr lang="en-US" sz="1400">
                <a:solidFill>
                  <a:schemeClr val="bg1"/>
                </a:solidFill>
              </a:rPr>
              <a:t>Project Website: https://remcculley.github.io/tutor-nation-website</a:t>
            </a:r>
          </a:p>
        </p:txBody>
      </p:sp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B263BED-623C-0E94-2F42-88C8599D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5" y="982944"/>
            <a:ext cx="1892702" cy="1988796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4695557-0A2C-B4E4-9036-EB70AE4C3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464" r="529" b="11783"/>
          <a:stretch>
            <a:fillRect/>
          </a:stretch>
        </p:blipFill>
        <p:spPr>
          <a:xfrm>
            <a:off x="9377000" y="962934"/>
            <a:ext cx="1858343" cy="2005977"/>
          </a:xfrm>
          <a:prstGeom prst="rect">
            <a:avLst/>
          </a:prstGeom>
        </p:spPr>
      </p:pic>
      <p:pic>
        <p:nvPicPr>
          <p:cNvPr id="7" name="Picture 6" descr="A person with dark hair and a white background&#10;&#10;AI-generated content may be incorrect.">
            <a:extLst>
              <a:ext uri="{FF2B5EF4-FFF2-40B4-BE49-F238E27FC236}">
                <a16:creationId xmlns:a16="http://schemas.microsoft.com/office/drawing/2014/main" id="{E817EF73-CFF8-C5F6-AFFA-1D997C668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215" y="3777747"/>
            <a:ext cx="2099720" cy="2022556"/>
          </a:xfrm>
          <a:prstGeom prst="rect">
            <a:avLst/>
          </a:prstGeom>
        </p:spPr>
      </p:pic>
      <p:pic>
        <p:nvPicPr>
          <p:cNvPr id="8" name="Picture 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3CE1781-870C-E6F9-5DBD-2823348B5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381" y="3835621"/>
            <a:ext cx="2079465" cy="1906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6D1EF7-13B4-C292-CC5B-E185D790B2CF}"/>
              </a:ext>
            </a:extLst>
          </p:cNvPr>
          <p:cNvSpPr txBox="1"/>
          <p:nvPr/>
        </p:nvSpPr>
        <p:spPr>
          <a:xfrm>
            <a:off x="6957581" y="3058949"/>
            <a:ext cx="1865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August Connors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4BFC5-8792-420A-4758-E91F42DF8BAE}"/>
              </a:ext>
            </a:extLst>
          </p:cNvPr>
          <p:cNvSpPr txBox="1"/>
          <p:nvPr/>
        </p:nvSpPr>
        <p:spPr>
          <a:xfrm>
            <a:off x="9378618" y="3058948"/>
            <a:ext cx="1865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Casey Derringer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26425-01CF-9CFE-FEE8-033255B30AA2}"/>
              </a:ext>
            </a:extLst>
          </p:cNvPr>
          <p:cNvSpPr txBox="1"/>
          <p:nvPr/>
        </p:nvSpPr>
        <p:spPr>
          <a:xfrm>
            <a:off x="7082974" y="5933329"/>
            <a:ext cx="1605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Minseok</a:t>
            </a:r>
            <a:r>
              <a:rPr lang="en-US">
                <a:solidFill>
                  <a:schemeClr val="bg1"/>
                </a:solidFill>
              </a:rPr>
              <a:t> Kim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4FE2B-3357-C464-6EA7-144188E3565E}"/>
              </a:ext>
            </a:extLst>
          </p:cNvPr>
          <p:cNvSpPr txBox="1"/>
          <p:nvPr/>
        </p:nvSpPr>
        <p:spPr>
          <a:xfrm>
            <a:off x="9378618" y="5933328"/>
            <a:ext cx="1865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Ryan McCulley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19" y="303064"/>
            <a:ext cx="3675861" cy="873674"/>
          </a:xfrm>
        </p:spPr>
        <p:txBody>
          <a:bodyPr/>
          <a:lstStyle/>
          <a:p>
            <a:r>
              <a:rPr lang="en-US"/>
              <a:t>Project Reminder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CD4D1-DA53-95EB-0BBB-8F2EA0E427A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032" y="855869"/>
            <a:ext cx="4449712" cy="540709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/>
              <a:t>Tutoring Service for K-12</a:t>
            </a:r>
          </a:p>
          <a:p>
            <a:pPr>
              <a:lnSpc>
                <a:spcPct val="200000"/>
              </a:lnSpc>
            </a:pPr>
            <a:r>
              <a:rPr lang="en-US" sz="2400"/>
              <a:t>Mobile learning app</a:t>
            </a:r>
          </a:p>
          <a:p>
            <a:pPr>
              <a:lnSpc>
                <a:spcPct val="200000"/>
              </a:lnSpc>
            </a:pPr>
            <a:r>
              <a:rPr lang="en-US" sz="2400"/>
              <a:t>Personalized practice outside of sessions</a:t>
            </a:r>
          </a:p>
        </p:txBody>
      </p:sp>
      <p:pic>
        <p:nvPicPr>
          <p:cNvPr id="7" name="Picture 6" descr="A blue and yellow text on a white background&#10;&#10;AI-generated content may be incorrect.">
            <a:extLst>
              <a:ext uri="{FF2B5EF4-FFF2-40B4-BE49-F238E27FC236}">
                <a16:creationId xmlns:a16="http://schemas.microsoft.com/office/drawing/2014/main" id="{403DA770-33EF-7F9B-FAC6-3ED0217B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92" y="1532315"/>
            <a:ext cx="5219378" cy="40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EABC-3FC7-25BC-E0AC-879D47E1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7634-C687-FAE3-9CE6-1E958735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Project Backlog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A567-DC14-135C-EB13-F7812690968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883" y="1544394"/>
            <a:ext cx="10406843" cy="472237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/>
              <a:t>View and open lesson content on student page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2400"/>
              <a:t>View tutors that students are assigned to on parent page</a:t>
            </a:r>
          </a:p>
          <a:p>
            <a:pPr>
              <a:lnSpc>
                <a:spcPct val="200000"/>
              </a:lnSpc>
            </a:pPr>
            <a:r>
              <a:rPr lang="en-US" sz="2400"/>
              <a:t>View list of students as tutor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CDF8-2FAB-8343-35AE-3D408E59812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Graphic 4" descr="Address Book with solid fill">
            <a:extLst>
              <a:ext uri="{FF2B5EF4-FFF2-40B4-BE49-F238E27FC236}">
                <a16:creationId xmlns:a16="http://schemas.microsoft.com/office/drawing/2014/main" id="{E99ADCC2-20E5-C9E2-D61D-74744ECE7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4306" y="2665021"/>
            <a:ext cx="914400" cy="914400"/>
          </a:xfrm>
          <a:prstGeom prst="rect">
            <a:avLst/>
          </a:prstGeom>
        </p:spPr>
      </p:pic>
      <p:pic>
        <p:nvPicPr>
          <p:cNvPr id="6" name="Graphic 5" descr="Teacher with solid fill">
            <a:extLst>
              <a:ext uri="{FF2B5EF4-FFF2-40B4-BE49-F238E27FC236}">
                <a16:creationId xmlns:a16="http://schemas.microsoft.com/office/drawing/2014/main" id="{D4CDAB40-0328-0EAE-C841-9DADB3398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5995" y="3585358"/>
            <a:ext cx="914400" cy="914400"/>
          </a:xfrm>
          <a:prstGeom prst="rect">
            <a:avLst/>
          </a:prstGeom>
        </p:spPr>
      </p:pic>
      <p:pic>
        <p:nvPicPr>
          <p:cNvPr id="7" name="Graphic 6" descr="List with solid fill">
            <a:extLst>
              <a:ext uri="{FF2B5EF4-FFF2-40B4-BE49-F238E27FC236}">
                <a16:creationId xmlns:a16="http://schemas.microsoft.com/office/drawing/2014/main" id="{3FF18E81-52F7-5951-123B-BEE7E58B1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9319" y="45056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9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C5CD-0185-1D86-CC73-85196937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2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3EA6-E6BC-FC19-14F1-66DDEFEF0E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9798" y="1693963"/>
            <a:ext cx="8542619" cy="4563158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/>
              <a:t>Start setting up backend</a:t>
            </a:r>
          </a:p>
          <a:p>
            <a:pPr>
              <a:lnSpc>
                <a:spcPct val="200000"/>
              </a:lnSpc>
            </a:pPr>
            <a:r>
              <a:rPr lang="en-US" sz="2400"/>
              <a:t>Define PostgreSQL database </a:t>
            </a:r>
          </a:p>
          <a:p>
            <a:pPr>
              <a:lnSpc>
                <a:spcPct val="200000"/>
              </a:lnSpc>
            </a:pPr>
            <a:r>
              <a:rPr lang="en-US" sz="2400"/>
              <a:t>Connect app views </a:t>
            </a:r>
          </a:p>
          <a:p>
            <a:pPr>
              <a:lnSpc>
                <a:spcPct val="200000"/>
              </a:lnSpc>
            </a:pPr>
            <a:r>
              <a:rPr lang="en-US" sz="2400"/>
              <a:t>Align views with consistent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03D93-C391-4428-C22F-2A3BF7C09E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Graphic 5" descr="Layers Design with solid fill">
            <a:extLst>
              <a:ext uri="{FF2B5EF4-FFF2-40B4-BE49-F238E27FC236}">
                <a16:creationId xmlns:a16="http://schemas.microsoft.com/office/drawing/2014/main" id="{5395440E-31CC-B8C3-2C78-B647B7A173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5484" y="4920205"/>
            <a:ext cx="914400" cy="914400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F5C6523E-9A43-2BEE-EF8F-6809F2DF5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174357"/>
            <a:ext cx="914400" cy="914400"/>
          </a:xfrm>
          <a:prstGeom prst="rect">
            <a:avLst/>
          </a:prstGeom>
        </p:spPr>
      </p:pic>
      <p:pic>
        <p:nvPicPr>
          <p:cNvPr id="9" name="Graphic 8" descr="Monitor with solid fill">
            <a:extLst>
              <a:ext uri="{FF2B5EF4-FFF2-40B4-BE49-F238E27FC236}">
                <a16:creationId xmlns:a16="http://schemas.microsoft.com/office/drawing/2014/main" id="{FFD4E8D0-C055-3E1D-406A-A7D458E2B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939" y="4090686"/>
            <a:ext cx="914400" cy="914400"/>
          </a:xfrm>
          <a:prstGeom prst="rect">
            <a:avLst/>
          </a:prstGeom>
        </p:spPr>
      </p:pic>
      <p:pic>
        <p:nvPicPr>
          <p:cNvPr id="10" name="Graphic 9" descr="Calculator with solid fill">
            <a:extLst>
              <a:ext uri="{FF2B5EF4-FFF2-40B4-BE49-F238E27FC236}">
                <a16:creationId xmlns:a16="http://schemas.microsoft.com/office/drawing/2014/main" id="{B4319743-F2C8-CE4B-526B-A871DB9E3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7230" y="22580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5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E11E-3C78-1FFC-8844-2184CC2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08EF-139B-33D6-F23C-1387AB32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2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BF4E-1E72-C2E4-CBE4-982D99A605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9798" y="1693963"/>
            <a:ext cx="8542619" cy="4563158"/>
          </a:xfrm>
        </p:spPr>
        <p:txBody>
          <a:bodyPr vert="horz" lIns="0" tIns="0" rIns="0" bIns="0" rtlCol="0" anchor="ctr"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endParaRPr lang="en-US" sz="2400"/>
          </a:p>
          <a:p>
            <a:pPr>
              <a:lnSpc>
                <a:spcPct val="200000"/>
              </a:lnSpc>
            </a:pPr>
            <a:r>
              <a:rPr lang="en-US" sz="2400"/>
              <a:t>Setup  </a:t>
            </a:r>
            <a:r>
              <a:rPr lang="en-US" sz="2400" err="1"/>
              <a:t>SpringBoot</a:t>
            </a:r>
            <a:r>
              <a:rPr lang="en-US" sz="2400"/>
              <a:t> application to control backend</a:t>
            </a: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2400"/>
              <a:t>Write controllers for various views</a:t>
            </a:r>
          </a:p>
          <a:p>
            <a:pPr>
              <a:lnSpc>
                <a:spcPct val="200000"/>
              </a:lnSpc>
            </a:pPr>
            <a:r>
              <a:rPr lang="en-US" sz="2400"/>
              <a:t>Define/Create Student, Parent, Tutor tables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2400"/>
              <a:t>Implement reusable components across frontend views</a:t>
            </a:r>
          </a:p>
          <a:p>
            <a:pPr>
              <a:lnSpc>
                <a:spcPct val="200000"/>
              </a:lnSpc>
            </a:pPr>
            <a:r>
              <a:rPr lang="en-US" sz="2400"/>
              <a:t>Define common data structures that  DB info can be stored in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400"/>
          </a:p>
          <a:p>
            <a:pPr>
              <a:lnSpc>
                <a:spcPct val="200000"/>
              </a:lnSpc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E73FC-31FD-25B3-DC88-2365684FBB9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2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86E6-0C4B-9C9D-3478-BC90ACCF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386C-7620-B25B-F9A3-2CE436BBCF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0801" y="805722"/>
            <a:ext cx="4663175" cy="2957884"/>
          </a:xfrm>
        </p:spPr>
        <p:txBody>
          <a:bodyPr vert="horz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3200">
                <a:latin typeface="Tisa Offc Serif Pro"/>
              </a:rPr>
              <a:t>Accomplishments</a:t>
            </a:r>
          </a:p>
          <a:p>
            <a:endParaRPr lang="en-US" sz="2400"/>
          </a:p>
          <a:p>
            <a:r>
              <a:rPr lang="en-US" sz="2400"/>
              <a:t>Deployed backend to AWS</a:t>
            </a:r>
            <a:endParaRPr lang="en-US"/>
          </a:p>
          <a:p>
            <a:r>
              <a:rPr lang="en-US" sz="2400"/>
              <a:t>Defined table specifications for database</a:t>
            </a:r>
          </a:p>
          <a:p>
            <a:r>
              <a:rPr lang="en-US" sz="2400"/>
              <a:t>Connected various app views</a:t>
            </a:r>
          </a:p>
          <a:p>
            <a:r>
              <a:rPr lang="en-US" sz="2400"/>
              <a:t>Refactored frontend designs for consistency</a:t>
            </a:r>
          </a:p>
          <a:p>
            <a:r>
              <a:rPr lang="en-US" sz="2400"/>
              <a:t>Backend controllers (student and tutor)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1BCBB-17EF-035E-DDD9-BEE55F0A43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B87ADB-3C8C-B123-E126-0A249B1DCD6E}"/>
              </a:ext>
            </a:extLst>
          </p:cNvPr>
          <p:cNvSpPr txBox="1">
            <a:spLocks/>
          </p:cNvSpPr>
          <p:nvPr/>
        </p:nvSpPr>
        <p:spPr>
          <a:xfrm>
            <a:off x="6522104" y="804336"/>
            <a:ext cx="5376407" cy="575849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latin typeface="Tisa Offc Serif Pro"/>
              </a:rPr>
              <a:t>Feedback</a:t>
            </a:r>
          </a:p>
          <a:p>
            <a:endParaRPr lang="en-US" sz="2400"/>
          </a:p>
          <a:p>
            <a:r>
              <a:rPr lang="en-US" sz="2400" dirty="0"/>
              <a:t>Sponsors are very pleased with flow and look of app</a:t>
            </a:r>
            <a:endParaRPr lang="en-US" dirty="0"/>
          </a:p>
          <a:p>
            <a:r>
              <a:rPr lang="en-US" sz="2400" dirty="0"/>
              <a:t>"A+" - </a:t>
            </a:r>
            <a:r>
              <a:rPr lang="en-US" sz="2400" dirty="0" err="1"/>
              <a:t>TutorNation</a:t>
            </a:r>
            <a:r>
              <a:rPr lang="en-US" sz="2400" dirty="0"/>
              <a:t> Sponsors</a:t>
            </a:r>
          </a:p>
          <a:p>
            <a:r>
              <a:rPr lang="en-US" sz="2400"/>
              <a:t>Cyber Feedback: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Credential Management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Client-side backdoors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Exposed API keys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2458D78-22D1-06B3-8125-F30AA3F37946}"/>
              </a:ext>
            </a:extLst>
          </p:cNvPr>
          <p:cNvCxnSpPr/>
          <p:nvPr/>
        </p:nvCxnSpPr>
        <p:spPr>
          <a:xfrm>
            <a:off x="6254496" y="487680"/>
            <a:ext cx="6096" cy="5449824"/>
          </a:xfrm>
          <a:prstGeom prst="straightConnector1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12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3250-05E8-25FD-C39F-CBEDC7E7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C40-3B0B-F358-0279-DD12F2D00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285" y="359169"/>
            <a:ext cx="3691282" cy="1427585"/>
          </a:xfrm>
        </p:spPr>
        <p:txBody>
          <a:bodyPr/>
          <a:lstStyle/>
          <a:p>
            <a:r>
              <a:rPr lang="en-US"/>
              <a:t>Remaining 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50576-EC7B-D963-5264-AEF8A7881A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11571" y="2118368"/>
            <a:ext cx="4587935" cy="4148399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400"/>
              <a:t>Finish backend calls</a:t>
            </a:r>
            <a:endParaRPr lang="en-US"/>
          </a:p>
          <a:p>
            <a:pPr>
              <a:lnSpc>
                <a:spcPct val="160000"/>
              </a:lnSpc>
            </a:pPr>
            <a:r>
              <a:rPr lang="en-US" sz="2400"/>
              <a:t>Test app functionality with dummy data</a:t>
            </a:r>
          </a:p>
          <a:p>
            <a:pPr>
              <a:lnSpc>
                <a:spcPct val="160000"/>
              </a:lnSpc>
            </a:pPr>
            <a:r>
              <a:rPr lang="en-US" sz="2400"/>
              <a:t>Generate content/activities</a:t>
            </a:r>
          </a:p>
          <a:p>
            <a:pPr>
              <a:lnSpc>
                <a:spcPct val="160000"/>
              </a:lnSpc>
            </a:pPr>
            <a:r>
              <a:rPr lang="en-US" sz="2400"/>
              <a:t>Create documentation for use and deployment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B7531-195D-92CD-A057-8359155E25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8622A8-C4FA-DDD0-6AB8-96904C8E0834}"/>
              </a:ext>
            </a:extLst>
          </p:cNvPr>
          <p:cNvSpPr txBox="1">
            <a:spLocks/>
          </p:cNvSpPr>
          <p:nvPr/>
        </p:nvSpPr>
        <p:spPr>
          <a:xfrm>
            <a:off x="6058806" y="2116439"/>
            <a:ext cx="5581429" cy="4138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Poor division of roles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Component-based division would have been better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Would prevent frontend refactoring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282F4-1F03-D638-3A0F-CB3E772F2165}"/>
              </a:ext>
            </a:extLst>
          </p:cNvPr>
          <p:cNvSpPr txBox="1"/>
          <p:nvPr/>
        </p:nvSpPr>
        <p:spPr>
          <a:xfrm>
            <a:off x="6995910" y="747904"/>
            <a:ext cx="37077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Tisa Offc Serif Pro"/>
              </a:rPr>
              <a:t>Lessons Learned</a:t>
            </a:r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3359C6-3BB6-6671-CA3A-C5DCB03D2B2F}"/>
              </a:ext>
            </a:extLst>
          </p:cNvPr>
          <p:cNvCxnSpPr/>
          <p:nvPr/>
        </p:nvCxnSpPr>
        <p:spPr>
          <a:xfrm>
            <a:off x="5945838" y="497326"/>
            <a:ext cx="6096" cy="5449824"/>
          </a:xfrm>
          <a:prstGeom prst="straightConnector1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13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0B0F-4B14-312D-2DFB-82D7C122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1C48-7EEB-8047-8013-A2DFD50E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3E05-C294-7C7F-8FC9-E81F6EFF16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5348" y="1568571"/>
            <a:ext cx="6013232" cy="46981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Swift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Readable code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Easy frontend development (</a:t>
            </a:r>
            <a:r>
              <a:rPr lang="en-US" err="1"/>
              <a:t>SwiftUI</a:t>
            </a:r>
            <a:r>
              <a:rPr lang="en-US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Inconvenient to develop on Mac</a:t>
            </a:r>
          </a:p>
          <a:p>
            <a:r>
              <a:rPr lang="en-US" err="1"/>
              <a:t>SpringBoot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Robust, maintainable, easy to collaborate 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IntelliJ IDEA somewhat buggy</a:t>
            </a:r>
          </a:p>
          <a:p>
            <a:r>
              <a:rPr lang="en-US"/>
              <a:t>AWS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EC2 for backend deployment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RDS for PostgreSQL database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Difficult to configure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12AB4-C94F-8461-9DB3-6F93643CA3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 descr="r/IntelliJIDEA icon">
            <a:extLst>
              <a:ext uri="{FF2B5EF4-FFF2-40B4-BE49-F238E27FC236}">
                <a16:creationId xmlns:a16="http://schemas.microsoft.com/office/drawing/2014/main" id="{043AB1F1-A593-5A43-CFA7-7FE43C641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794" y="3199714"/>
            <a:ext cx="1863933" cy="1429672"/>
          </a:xfrm>
          <a:prstGeom prst="rect">
            <a:avLst/>
          </a:prstGeom>
        </p:spPr>
      </p:pic>
      <p:pic>
        <p:nvPicPr>
          <p:cNvPr id="8" name="Picture 7" descr="undefined">
            <a:extLst>
              <a:ext uri="{FF2B5EF4-FFF2-40B4-BE49-F238E27FC236}">
                <a16:creationId xmlns:a16="http://schemas.microsoft.com/office/drawing/2014/main" id="{21B18FAA-CE6A-84A6-4C71-0588D93D1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083" y="5054823"/>
            <a:ext cx="1544256" cy="1543653"/>
          </a:xfrm>
          <a:prstGeom prst="rect">
            <a:avLst/>
          </a:prstGeom>
        </p:spPr>
      </p:pic>
      <p:pic>
        <p:nvPicPr>
          <p:cNvPr id="9" name="Picture 8" descr="undefined">
            <a:extLst>
              <a:ext uri="{FF2B5EF4-FFF2-40B4-BE49-F238E27FC236}">
                <a16:creationId xmlns:a16="http://schemas.microsoft.com/office/drawing/2014/main" id="{61BDAC44-C9CA-9C10-8345-828144D33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132" y="3134690"/>
            <a:ext cx="1572469" cy="1572469"/>
          </a:xfrm>
          <a:prstGeom prst="rect">
            <a:avLst/>
          </a:prstGeom>
        </p:spPr>
      </p:pic>
      <p:pic>
        <p:nvPicPr>
          <p:cNvPr id="10" name="Picture 9" descr="Swift Logo PNG Vector">
            <a:extLst>
              <a:ext uri="{FF2B5EF4-FFF2-40B4-BE49-F238E27FC236}">
                <a16:creationId xmlns:a16="http://schemas.microsoft.com/office/drawing/2014/main" id="{3CE57452-1A00-A2B2-88C5-B40097013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592" y="646221"/>
            <a:ext cx="1953350" cy="1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0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A3F8-F4CE-86FC-F383-3F64DDF8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1D9A-8CDC-F472-B562-4D4D1323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Team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8979D-53CF-2970-F754-514D0B4B96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45265" y="2118368"/>
            <a:ext cx="4399912" cy="195779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August Connors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Implementing reusable components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Frontend API calls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0974B-A56C-0650-B120-C15ECD8E57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AB8982-2D29-3236-833F-E3CEBC70FD0C}"/>
              </a:ext>
            </a:extLst>
          </p:cNvPr>
          <p:cNvSpPr txBox="1">
            <a:spLocks/>
          </p:cNvSpPr>
          <p:nvPr/>
        </p:nvSpPr>
        <p:spPr>
          <a:xfrm>
            <a:off x="6049161" y="2116439"/>
            <a:ext cx="4462542" cy="170807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Casey Derringer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Profile page on student view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Splash screen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Completed student controller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77A5E7-4207-F6DE-55D5-7ECADAEBED60}"/>
              </a:ext>
            </a:extLst>
          </p:cNvPr>
          <p:cNvSpPr txBox="1">
            <a:spLocks/>
          </p:cNvSpPr>
          <p:nvPr/>
        </p:nvSpPr>
        <p:spPr>
          <a:xfrm>
            <a:off x="1380705" y="4074491"/>
            <a:ext cx="4462542" cy="229644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Minseok</a:t>
            </a:r>
            <a:r>
              <a:rPr lang="en-US"/>
              <a:t> Kim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Configured backend with docker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Set up AWS RDS database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Deployed code to AWS EC2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Completed Tutor Controller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1CBF2F-C867-589F-3A95-B376B2FC4208}"/>
              </a:ext>
            </a:extLst>
          </p:cNvPr>
          <p:cNvSpPr txBox="1">
            <a:spLocks/>
          </p:cNvSpPr>
          <p:nvPr/>
        </p:nvSpPr>
        <p:spPr>
          <a:xfrm>
            <a:off x="6056260" y="4081588"/>
            <a:ext cx="5199155" cy="2495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Ryan McCulley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Defined and Checked Data Tables for All </a:t>
            </a:r>
            <a:r>
              <a:rPr lang="en-US" dirty="0"/>
              <a:t>Users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Planned out Backend Calls for All Users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Helped </a:t>
            </a:r>
            <a:r>
              <a:rPr lang="en-US"/>
              <a:t>Straighten Backend Pathways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6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DD27D0-5B6E-4A0E-95B2-BB37F9D8861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Tutor Nation Sprint 2 Presentation</vt:lpstr>
      <vt:lpstr>Project Reminder</vt:lpstr>
      <vt:lpstr>Project Backlog Highlights</vt:lpstr>
      <vt:lpstr>Sprint 2 Goals</vt:lpstr>
      <vt:lpstr>Sprint 2 Backlog</vt:lpstr>
      <vt:lpstr>PowerPoint Presentation</vt:lpstr>
      <vt:lpstr>Remaining Work</vt:lpstr>
      <vt:lpstr>Technologies Used</vt:lpstr>
      <vt:lpstr>Team Contributions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24</cp:revision>
  <dcterms:created xsi:type="dcterms:W3CDTF">2026-03-21T16:27:07Z</dcterms:created>
  <dcterms:modified xsi:type="dcterms:W3CDTF">2026-03-24T17:54:15Z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