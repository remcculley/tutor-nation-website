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2" r:id="rId5"/>
    <p:sldId id="321" r:id="rId6"/>
    <p:sldId id="329" r:id="rId7"/>
    <p:sldId id="323" r:id="rId8"/>
    <p:sldId id="328" r:id="rId9"/>
    <p:sldId id="324" r:id="rId10"/>
    <p:sldId id="325" r:id="rId11"/>
    <p:sldId id="330" r:id="rId12"/>
    <p:sldId id="327" r:id="rId13"/>
    <p:sldId id="3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5CBEE-86BD-63F0-5B3E-E98702194B65}" v="109" dt="2026-04-20T16:29:54.374"/>
    <p1510:client id="{48DC8C62-8AC2-B82B-10DB-E51705C27B0B}" v="2" dt="2026-04-21T13:45:07.421"/>
    <p1510:client id="{963BF149-6C02-F3F9-98C2-1A721A85D92F}" v="1" dt="2026-04-20T23:14:28.632"/>
    <p1510:client id="{995FA45D-BAC6-DA79-D90A-FAFEFF9D614C}" v="238" dt="2026-04-21T16:48:59.487"/>
    <p1510:client id="{B6F1E1E1-F295-9A6A-BF67-485D49DBC198}" v="197" dt="2026-04-20T16:30:07.951"/>
    <p1510:client id="{BC804D77-3A02-ABBE-8A25-357F4A9200D5}" v="13" dt="2026-04-20T16:38:00.708"/>
    <p1510:client id="{CCD7E470-CDAB-CFBD-EBF2-75DB7987D32B}" v="257" dt="2026-04-21T16:29:47.382"/>
    <p1510:client id="{EAC50A88-F86A-7159-E7B7-B9D7772BF9EE}" v="16" dt="2026-04-21T16:42:19.313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/>
              <a:t>Tutor Nation Sprint 3             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DBF34-5100-CABE-8775-575E54D71A0C}"/>
              </a:ext>
            </a:extLst>
          </p:cNvPr>
          <p:cNvSpPr txBox="1"/>
          <p:nvPr/>
        </p:nvSpPr>
        <p:spPr>
          <a:xfrm>
            <a:off x="1317141" y="5934371"/>
            <a:ext cx="55865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solidFill>
                  <a:schemeClr val="bg1"/>
                </a:solidFill>
              </a:rPr>
              <a:t>Github</a:t>
            </a:r>
            <a:r>
              <a:rPr lang="en-US" sz="1400">
                <a:solidFill>
                  <a:schemeClr val="bg1"/>
                </a:solidFill>
              </a:rPr>
              <a:t> URL: https://github.com/ahconnors/Tutor_Nation</a:t>
            </a:r>
          </a:p>
          <a:p>
            <a:r>
              <a:rPr lang="en-US" sz="1400">
                <a:solidFill>
                  <a:schemeClr val="bg1"/>
                </a:solidFill>
              </a:rPr>
              <a:t>Project Website: https://remcculley.github.io/tutor-nation-website</a:t>
            </a:r>
          </a:p>
        </p:txBody>
      </p:sp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B263BED-623C-0E94-2F42-88C8599D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5" y="982944"/>
            <a:ext cx="1892702" cy="1988796"/>
          </a:xfrm>
          <a:prstGeom prst="rect">
            <a:avLst/>
          </a:prstGeom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4695557-0A2C-B4E4-9036-EB70AE4C3B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464" r="529" b="11783"/>
          <a:stretch>
            <a:fillRect/>
          </a:stretch>
        </p:blipFill>
        <p:spPr>
          <a:xfrm>
            <a:off x="9377000" y="962934"/>
            <a:ext cx="1858343" cy="2005977"/>
          </a:xfrm>
          <a:prstGeom prst="rect">
            <a:avLst/>
          </a:prstGeom>
        </p:spPr>
      </p:pic>
      <p:pic>
        <p:nvPicPr>
          <p:cNvPr id="7" name="Picture 6" descr="A person with dark hair and a white background&#10;&#10;AI-generated content may be incorrect.">
            <a:extLst>
              <a:ext uri="{FF2B5EF4-FFF2-40B4-BE49-F238E27FC236}">
                <a16:creationId xmlns:a16="http://schemas.microsoft.com/office/drawing/2014/main" id="{E817EF73-CFF8-C5F6-AFFA-1D997C668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215" y="3777747"/>
            <a:ext cx="2099720" cy="2022556"/>
          </a:xfrm>
          <a:prstGeom prst="rect">
            <a:avLst/>
          </a:prstGeom>
        </p:spPr>
      </p:pic>
      <p:pic>
        <p:nvPicPr>
          <p:cNvPr id="8" name="Picture 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3CE1781-870C-E6F9-5DBD-2823348B5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381" y="3835621"/>
            <a:ext cx="2079465" cy="1906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6D1EF7-13B4-C292-CC5B-E185D790B2CF}"/>
              </a:ext>
            </a:extLst>
          </p:cNvPr>
          <p:cNvSpPr txBox="1"/>
          <p:nvPr/>
        </p:nvSpPr>
        <p:spPr>
          <a:xfrm>
            <a:off x="6957581" y="3058949"/>
            <a:ext cx="1865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August Connors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4BFC5-8792-420A-4758-E91F42DF8BAE}"/>
              </a:ext>
            </a:extLst>
          </p:cNvPr>
          <p:cNvSpPr txBox="1"/>
          <p:nvPr/>
        </p:nvSpPr>
        <p:spPr>
          <a:xfrm>
            <a:off x="9378618" y="3058948"/>
            <a:ext cx="1865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Casey Derringer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26425-01CF-9CFE-FEE8-033255B30AA2}"/>
              </a:ext>
            </a:extLst>
          </p:cNvPr>
          <p:cNvSpPr txBox="1"/>
          <p:nvPr/>
        </p:nvSpPr>
        <p:spPr>
          <a:xfrm>
            <a:off x="7082974" y="5933329"/>
            <a:ext cx="16050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Minseok</a:t>
            </a:r>
            <a:r>
              <a:rPr lang="en-US">
                <a:solidFill>
                  <a:schemeClr val="bg1"/>
                </a:solidFill>
              </a:rPr>
              <a:t> Kim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4FE2B-3357-C464-6EA7-144188E3565E}"/>
              </a:ext>
            </a:extLst>
          </p:cNvPr>
          <p:cNvSpPr txBox="1"/>
          <p:nvPr/>
        </p:nvSpPr>
        <p:spPr>
          <a:xfrm>
            <a:off x="9378618" y="5933328"/>
            <a:ext cx="1865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Ryan McCulley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19" y="303064"/>
            <a:ext cx="3675861" cy="873674"/>
          </a:xfrm>
        </p:spPr>
        <p:txBody>
          <a:bodyPr/>
          <a:lstStyle/>
          <a:p>
            <a:r>
              <a:rPr lang="en-US"/>
              <a:t>Project Reminder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CD4D1-DA53-95EB-0BBB-8F2EA0E427A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032" y="855869"/>
            <a:ext cx="4449712" cy="540709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/>
              <a:t>Tutoring Service for K-12</a:t>
            </a:r>
          </a:p>
          <a:p>
            <a:pPr>
              <a:lnSpc>
                <a:spcPct val="200000"/>
              </a:lnSpc>
            </a:pPr>
            <a:r>
              <a:rPr lang="en-US" sz="2400"/>
              <a:t>Mobile learning app</a:t>
            </a:r>
          </a:p>
          <a:p>
            <a:pPr>
              <a:lnSpc>
                <a:spcPct val="200000"/>
              </a:lnSpc>
            </a:pPr>
            <a:r>
              <a:rPr lang="en-US" sz="2400"/>
              <a:t>Personalized practice outside of sessions</a:t>
            </a:r>
          </a:p>
          <a:p>
            <a:pPr>
              <a:lnSpc>
                <a:spcPct val="200000"/>
              </a:lnSpc>
            </a:pPr>
            <a:r>
              <a:rPr lang="en-US" sz="2400"/>
              <a:t>Progress so far</a:t>
            </a:r>
          </a:p>
        </p:txBody>
      </p:sp>
      <p:pic>
        <p:nvPicPr>
          <p:cNvPr id="7" name="Picture 6" descr="A blue and yellow text on a white background&#10;&#10;AI-generated content may be incorrect.">
            <a:extLst>
              <a:ext uri="{FF2B5EF4-FFF2-40B4-BE49-F238E27FC236}">
                <a16:creationId xmlns:a16="http://schemas.microsoft.com/office/drawing/2014/main" id="{403DA770-33EF-7F9B-FAC6-3ED0217B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192" y="1532315"/>
            <a:ext cx="5219378" cy="40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EABC-3FC7-25BC-E0AC-879D47E1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7634-C687-FAE3-9CE6-1E958735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Project Backlog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A567-DC14-135C-EB13-F7812690968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883" y="1544394"/>
            <a:ext cx="10406843" cy="4722373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/>
              <a:t>Invite students as Tutor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2400"/>
              <a:t>Open and complete lessons as student</a:t>
            </a:r>
          </a:p>
          <a:p>
            <a:pPr>
              <a:lnSpc>
                <a:spcPct val="200000"/>
              </a:lnSpc>
            </a:pPr>
            <a:r>
              <a:rPr lang="en-US" sz="2400"/>
              <a:t>View and modify profile as student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BCDF8-2FAB-8343-35AE-3D408E59812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Graphic 4" descr="Address Book with solid fill">
            <a:extLst>
              <a:ext uri="{FF2B5EF4-FFF2-40B4-BE49-F238E27FC236}">
                <a16:creationId xmlns:a16="http://schemas.microsoft.com/office/drawing/2014/main" id="{E99ADCC2-20E5-C9E2-D61D-74744ECE7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2161" y="2665021"/>
            <a:ext cx="914400" cy="914400"/>
          </a:xfrm>
          <a:prstGeom prst="rect">
            <a:avLst/>
          </a:prstGeom>
        </p:spPr>
      </p:pic>
      <p:pic>
        <p:nvPicPr>
          <p:cNvPr id="6" name="Graphic 5" descr="Teacher with solid fill">
            <a:extLst>
              <a:ext uri="{FF2B5EF4-FFF2-40B4-BE49-F238E27FC236}">
                <a16:creationId xmlns:a16="http://schemas.microsoft.com/office/drawing/2014/main" id="{D4CDAB40-0328-0EAE-C841-9DADB3398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477" y="3585358"/>
            <a:ext cx="914400" cy="914400"/>
          </a:xfrm>
          <a:prstGeom prst="rect">
            <a:avLst/>
          </a:prstGeom>
        </p:spPr>
      </p:pic>
      <p:pic>
        <p:nvPicPr>
          <p:cNvPr id="7" name="Graphic 6" descr="List with solid fill">
            <a:extLst>
              <a:ext uri="{FF2B5EF4-FFF2-40B4-BE49-F238E27FC236}">
                <a16:creationId xmlns:a16="http://schemas.microsoft.com/office/drawing/2014/main" id="{3FF18E81-52F7-5951-123B-BEE7E58B1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9680" y="44965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9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7C5CD-0185-1D86-CC73-85196937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3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3EA6-E6BC-FC19-14F1-66DDEFEF0E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9798" y="1693963"/>
            <a:ext cx="8542619" cy="4563158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/>
              <a:t>Address cyber vulnerabilities</a:t>
            </a:r>
          </a:p>
          <a:p>
            <a:pPr>
              <a:lnSpc>
                <a:spcPct val="200000"/>
              </a:lnSpc>
            </a:pPr>
            <a:r>
              <a:rPr lang="en-US" sz="2400"/>
              <a:t>Finish connecting frontend to backend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2400"/>
              <a:t>Complete login functionality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2400"/>
              <a:t>Implement sample student activity</a:t>
            </a:r>
          </a:p>
          <a:p>
            <a:pPr>
              <a:lnSpc>
                <a:spcPct val="200000"/>
              </a:lnSpc>
            </a:pPr>
            <a:r>
              <a:rPr lang="en-US" sz="2400"/>
              <a:t>Misc. sponsor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03D93-C391-4428-C22F-2A3BF7C09E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Graphic 5" descr="Layers Design with solid fill">
            <a:extLst>
              <a:ext uri="{FF2B5EF4-FFF2-40B4-BE49-F238E27FC236}">
                <a16:creationId xmlns:a16="http://schemas.microsoft.com/office/drawing/2014/main" id="{5395440E-31CC-B8C3-2C78-B647B7A173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3023" y="4565944"/>
            <a:ext cx="914400" cy="914400"/>
          </a:xfrm>
          <a:prstGeom prst="rect">
            <a:avLst/>
          </a:prstGeo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F5C6523E-9A43-2BEE-EF8F-6809F2DF5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4152" y="2846261"/>
            <a:ext cx="914400" cy="914400"/>
          </a:xfrm>
          <a:prstGeom prst="rect">
            <a:avLst/>
          </a:prstGeom>
        </p:spPr>
      </p:pic>
      <p:pic>
        <p:nvPicPr>
          <p:cNvPr id="9" name="Graphic 8" descr="Monitor with solid fill">
            <a:extLst>
              <a:ext uri="{FF2B5EF4-FFF2-40B4-BE49-F238E27FC236}">
                <a16:creationId xmlns:a16="http://schemas.microsoft.com/office/drawing/2014/main" id="{FFD4E8D0-C055-3E1D-406A-A7D458E2B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8900" y="3661602"/>
            <a:ext cx="914400" cy="914400"/>
          </a:xfrm>
          <a:prstGeom prst="rect">
            <a:avLst/>
          </a:prstGeom>
        </p:spPr>
      </p:pic>
      <p:pic>
        <p:nvPicPr>
          <p:cNvPr id="10" name="Graphic 9" descr="Calculator with solid fill">
            <a:extLst>
              <a:ext uri="{FF2B5EF4-FFF2-40B4-BE49-F238E27FC236}">
                <a16:creationId xmlns:a16="http://schemas.microsoft.com/office/drawing/2014/main" id="{B4319743-F2C8-CE4B-526B-A871DB9E3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6961" y="1927522"/>
            <a:ext cx="914400" cy="914400"/>
          </a:xfrm>
          <a:prstGeom prst="rect">
            <a:avLst/>
          </a:prstGeom>
        </p:spPr>
      </p:pic>
      <p:pic>
        <p:nvPicPr>
          <p:cNvPr id="5" name="Graphic 4" descr="Clipboard Checked with solid fill">
            <a:extLst>
              <a:ext uri="{FF2B5EF4-FFF2-40B4-BE49-F238E27FC236}">
                <a16:creationId xmlns:a16="http://schemas.microsoft.com/office/drawing/2014/main" id="{4962F916-8614-A63D-71DD-9F038CA19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7011" y="53480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5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E11E-3C78-1FFC-8844-2184CC2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08EF-139B-33D6-F23C-1387AB32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3 Backlog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BF4E-1E72-C2E4-CBE4-982D99A605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9798" y="1693963"/>
            <a:ext cx="8542619" cy="4563158"/>
          </a:xfrm>
        </p:spPr>
        <p:txBody>
          <a:bodyPr vert="horz" lIns="0" tIns="0" rIns="0" bIns="0" rtlCol="0" anchor="ctr">
            <a:normAutofit fontScale="85000" lnSpcReduction="10000"/>
          </a:bodyPr>
          <a:lstStyle/>
          <a:p>
            <a:pPr marL="342900" indent="-342900">
              <a:lnSpc>
                <a:spcPct val="200000"/>
              </a:lnSpc>
            </a:pPr>
            <a:r>
              <a:rPr lang="en-US" sz="2400"/>
              <a:t>Utilize secrets manager for creds, setup HTTPS for backend, authenticate backend endpoints, login page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2400"/>
              <a:t>Add student backend calls to frontend</a:t>
            </a: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2400"/>
              <a:t>Allow dynamic data display based on backend response</a:t>
            </a:r>
          </a:p>
          <a:p>
            <a:pPr>
              <a:lnSpc>
                <a:spcPct val="200000"/>
              </a:lnSpc>
            </a:pPr>
            <a:r>
              <a:rPr lang="en-US" sz="2400"/>
              <a:t>Inviting students to the app as a tutor</a:t>
            </a:r>
          </a:p>
          <a:p>
            <a:pPr>
              <a:lnSpc>
                <a:spcPct val="200000"/>
              </a:lnSpc>
            </a:pPr>
            <a:r>
              <a:rPr lang="en-US" sz="2400"/>
              <a:t>Generate sample lesson, design  reuseable component to display lesson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E73FC-31FD-25B3-DC88-2365684FBB9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Graphic 4" descr="Lock outline">
            <a:extLst>
              <a:ext uri="{FF2B5EF4-FFF2-40B4-BE49-F238E27FC236}">
                <a16:creationId xmlns:a16="http://schemas.microsoft.com/office/drawing/2014/main" id="{8D1E7FB2-7284-9E39-EC1C-4B812FD95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668" y="2109537"/>
            <a:ext cx="914400" cy="914400"/>
          </a:xfrm>
          <a:prstGeom prst="rect">
            <a:avLst/>
          </a:prstGeom>
        </p:spPr>
      </p:pic>
      <p:pic>
        <p:nvPicPr>
          <p:cNvPr id="6" name="Graphic 5" descr="Link outline">
            <a:extLst>
              <a:ext uri="{FF2B5EF4-FFF2-40B4-BE49-F238E27FC236}">
                <a16:creationId xmlns:a16="http://schemas.microsoft.com/office/drawing/2014/main" id="{500E9D9B-99A1-3740-37AB-DA74D244D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0011" y="3142247"/>
            <a:ext cx="914400" cy="914400"/>
          </a:xfrm>
          <a:prstGeom prst="rect">
            <a:avLst/>
          </a:prstGeom>
        </p:spPr>
      </p:pic>
      <p:pic>
        <p:nvPicPr>
          <p:cNvPr id="7" name="Graphic 6" descr="Idea with solid fill">
            <a:extLst>
              <a:ext uri="{FF2B5EF4-FFF2-40B4-BE49-F238E27FC236}">
                <a16:creationId xmlns:a16="http://schemas.microsoft.com/office/drawing/2014/main" id="{9A7F10EE-1C1F-46DE-B839-6A2EDD7F1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9879" y="4666247"/>
            <a:ext cx="914400" cy="914400"/>
          </a:xfrm>
          <a:prstGeom prst="rect">
            <a:avLst/>
          </a:prstGeom>
        </p:spPr>
      </p:pic>
      <p:pic>
        <p:nvPicPr>
          <p:cNvPr id="8" name="Graphic 7" descr="Remote learning math with solid fill">
            <a:extLst>
              <a:ext uri="{FF2B5EF4-FFF2-40B4-BE49-F238E27FC236}">
                <a16:creationId xmlns:a16="http://schemas.microsoft.com/office/drawing/2014/main" id="{7BC2FE49-F896-E9EA-D151-1034109AB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00247" y="54783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2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86E6-0C4B-9C9D-3478-BC90ACCF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F386C-7620-B25B-F9A3-2CE436BBCF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0801" y="805722"/>
            <a:ext cx="4663175" cy="2957884"/>
          </a:xfrm>
        </p:spPr>
        <p:txBody>
          <a:bodyPr vert="horz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3200">
                <a:latin typeface="Tisa Offc Serif Pro"/>
              </a:rPr>
              <a:t>Accomplishments</a:t>
            </a:r>
          </a:p>
          <a:p>
            <a:endParaRPr lang="en-US" sz="2400"/>
          </a:p>
          <a:p>
            <a:r>
              <a:rPr lang="en-US" sz="2400"/>
              <a:t>Users can login and create accounts</a:t>
            </a:r>
            <a:endParaRPr lang="en-US"/>
          </a:p>
          <a:p>
            <a:r>
              <a:rPr lang="en-US" sz="2400"/>
              <a:t>Tutors can add students from tutor view</a:t>
            </a:r>
          </a:p>
          <a:p>
            <a:r>
              <a:rPr lang="en-US" sz="2400"/>
              <a:t>Students can view a sample lesson</a:t>
            </a:r>
          </a:p>
          <a:p>
            <a:r>
              <a:rPr lang="en-US" sz="2400"/>
              <a:t>Addressed ~3 cyber vulnerabilities</a:t>
            </a:r>
          </a:p>
          <a:p>
            <a:endParaRPr lang="en-US" sz="2400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1BCBB-17EF-035E-DDD9-BEE55F0A43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B87ADB-3C8C-B123-E126-0A249B1DCD6E}"/>
              </a:ext>
            </a:extLst>
          </p:cNvPr>
          <p:cNvSpPr txBox="1">
            <a:spLocks/>
          </p:cNvSpPr>
          <p:nvPr/>
        </p:nvSpPr>
        <p:spPr>
          <a:xfrm>
            <a:off x="6522104" y="804336"/>
            <a:ext cx="5376407" cy="575849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>
                <a:latin typeface="Tisa Offc Serif Pro"/>
              </a:rPr>
              <a:t>Feedback</a:t>
            </a:r>
          </a:p>
          <a:p>
            <a:endParaRPr lang="en-US" sz="2400"/>
          </a:p>
          <a:p>
            <a:r>
              <a:rPr lang="en-US" sz="2400"/>
              <a:t>Sponsors appreciate feature </a:t>
            </a:r>
            <a:r>
              <a:rPr lang="en-US" sz="2400" err="1"/>
              <a:t>wishlist</a:t>
            </a:r>
            <a:r>
              <a:rPr lang="en-US" sz="2400"/>
              <a:t> we've completed this sprint</a:t>
            </a:r>
          </a:p>
          <a:p>
            <a:r>
              <a:rPr lang="en-US" sz="2400"/>
              <a:t>Cyber Feedback: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Exposed credentials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Container as root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Backend authentication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/>
              <a:t>Login page backdoor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2458D78-22D1-06B3-8125-F30AA3F37946}"/>
              </a:ext>
            </a:extLst>
          </p:cNvPr>
          <p:cNvCxnSpPr/>
          <p:nvPr/>
        </p:nvCxnSpPr>
        <p:spPr>
          <a:xfrm>
            <a:off x="6254496" y="487680"/>
            <a:ext cx="6096" cy="5449824"/>
          </a:xfrm>
          <a:prstGeom prst="straightConnector1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12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3250-05E8-25FD-C39F-CBEDC7E7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9C40-3B0B-F358-0279-DD12F2D00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285" y="359169"/>
            <a:ext cx="3691282" cy="1364955"/>
          </a:xfrm>
        </p:spPr>
        <p:txBody>
          <a:bodyPr/>
          <a:lstStyle/>
          <a:p>
            <a:r>
              <a:rPr lang="en-US"/>
              <a:t>Remaining 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50576-EC7B-D963-5264-AEF8A7881A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11571" y="2118368"/>
            <a:ext cx="4587935" cy="4148399"/>
          </a:xfrm>
        </p:spPr>
        <p:txBody>
          <a:bodyPr vert="horz" lIns="0" tIns="0" rIns="0" bIns="0" rtlCol="0" anchor="ctr"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sz="2400"/>
              <a:t>Round out parent functionality</a:t>
            </a:r>
          </a:p>
          <a:p>
            <a:pPr>
              <a:lnSpc>
                <a:spcPct val="160000"/>
              </a:lnSpc>
            </a:pPr>
            <a:r>
              <a:rPr lang="en-US" sz="2400"/>
              <a:t>Implement admin view for easily managing users</a:t>
            </a:r>
          </a:p>
          <a:p>
            <a:pPr>
              <a:lnSpc>
                <a:spcPct val="160000"/>
              </a:lnSpc>
            </a:pPr>
            <a:r>
              <a:rPr lang="en-US" sz="2400"/>
              <a:t>Integrate AI lesson generation</a:t>
            </a:r>
          </a:p>
          <a:p>
            <a:pPr>
              <a:lnSpc>
                <a:spcPct val="160000"/>
              </a:lnSpc>
            </a:pPr>
            <a:r>
              <a:rPr lang="en-US" sz="2400"/>
              <a:t>Allow tutors to make modifications to student activities</a:t>
            </a:r>
          </a:p>
          <a:p>
            <a:pPr>
              <a:lnSpc>
                <a:spcPct val="160000"/>
              </a:lnSpc>
            </a:pPr>
            <a:endParaRPr lang="en-US" sz="2400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B7531-195D-92CD-A057-8359155E25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282F4-1F03-D638-3A0F-CB3E772F2165}"/>
              </a:ext>
            </a:extLst>
          </p:cNvPr>
          <p:cNvSpPr txBox="1"/>
          <p:nvPr/>
        </p:nvSpPr>
        <p:spPr>
          <a:xfrm>
            <a:off x="6995910" y="747904"/>
            <a:ext cx="37077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Tisa Offc Serif Pro"/>
              </a:rPr>
              <a:t>Lessons Learned</a:t>
            </a:r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3359C6-3BB6-6671-CA3A-C5DCB03D2B2F}"/>
              </a:ext>
            </a:extLst>
          </p:cNvPr>
          <p:cNvCxnSpPr/>
          <p:nvPr/>
        </p:nvCxnSpPr>
        <p:spPr>
          <a:xfrm>
            <a:off x="5945838" y="497326"/>
            <a:ext cx="6096" cy="5449824"/>
          </a:xfrm>
          <a:prstGeom prst="straightConnector1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B67343-B3C4-612C-5238-614134A903A3}"/>
              </a:ext>
            </a:extLst>
          </p:cNvPr>
          <p:cNvSpPr txBox="1"/>
          <p:nvPr/>
        </p:nvSpPr>
        <p:spPr>
          <a:xfrm>
            <a:off x="6334596" y="1806922"/>
            <a:ext cx="5133582" cy="26997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200"/>
              <a:t>Learned lots about AWS hosting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200"/>
              <a:t>SWE team best practices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200"/>
              <a:t>Overall project development lifecycle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200"/>
              <a:t>Managing sponsor expectations</a:t>
            </a:r>
          </a:p>
        </p:txBody>
      </p:sp>
    </p:spTree>
    <p:extLst>
      <p:ext uri="{BB962C8B-B14F-4D97-AF65-F5344CB8AC3E}">
        <p14:creationId xmlns:p14="http://schemas.microsoft.com/office/powerpoint/2010/main" val="273613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A875-1D57-32C3-2585-0C590C5C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6592-5A6B-53B8-A13F-B01BB147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Accessibility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029EC-90E5-084B-47E1-45D0755CD1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9798" y="1693963"/>
            <a:ext cx="8542619" cy="4563158"/>
          </a:xfrm>
        </p:spPr>
        <p:txBody>
          <a:bodyPr vert="horz" lIns="0" tIns="0" rIns="0" bIns="0" rtlCol="0" anchor="ctr">
            <a:normAutofit/>
          </a:bodyPr>
          <a:lstStyle/>
          <a:p>
            <a:pPr marL="342900" indent="-342900">
              <a:lnSpc>
                <a:spcPct val="200000"/>
              </a:lnSpc>
            </a:pPr>
            <a:r>
              <a:rPr lang="en-US" sz="2400"/>
              <a:t>Not at forefront of early development</a:t>
            </a:r>
          </a:p>
          <a:p>
            <a:pPr marL="342900" indent="-342900">
              <a:lnSpc>
                <a:spcPct val="200000"/>
              </a:lnSpc>
            </a:pPr>
            <a:r>
              <a:rPr lang="en-US" sz="2400"/>
              <a:t>Future Work on this could include:</a:t>
            </a:r>
          </a:p>
          <a:p>
            <a:pPr marL="800100"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2400"/>
              <a:t>Responsiveness to various devices (iPad, for example)</a:t>
            </a:r>
          </a:p>
          <a:p>
            <a:pPr marL="800100"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2400"/>
              <a:t>Adding alt text for images</a:t>
            </a:r>
          </a:p>
          <a:p>
            <a:pPr marL="800100"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2400"/>
              <a:t>Ensuring proper contrast in color palette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D93F0-8B21-FFF7-1F96-88FC36743F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Graphic 4" descr="Images with solid fill">
            <a:extLst>
              <a:ext uri="{FF2B5EF4-FFF2-40B4-BE49-F238E27FC236}">
                <a16:creationId xmlns:a16="http://schemas.microsoft.com/office/drawing/2014/main" id="{C95AF31C-9CA4-A421-7C4B-96310FE20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0011" y="4515853"/>
            <a:ext cx="914400" cy="914400"/>
          </a:xfrm>
          <a:prstGeom prst="rect">
            <a:avLst/>
          </a:prstGeom>
        </p:spPr>
      </p:pic>
      <p:pic>
        <p:nvPicPr>
          <p:cNvPr id="6" name="Graphic 5" descr="Palette with solid fill">
            <a:extLst>
              <a:ext uri="{FF2B5EF4-FFF2-40B4-BE49-F238E27FC236}">
                <a16:creationId xmlns:a16="http://schemas.microsoft.com/office/drawing/2014/main" id="{2E755428-13B9-5402-EFBB-7246A6B6E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4484" y="5438274"/>
            <a:ext cx="914400" cy="914400"/>
          </a:xfrm>
          <a:prstGeom prst="rect">
            <a:avLst/>
          </a:prstGeom>
        </p:spPr>
      </p:pic>
      <p:pic>
        <p:nvPicPr>
          <p:cNvPr id="7" name="Graphic 6" descr="Tablet with solid fill">
            <a:extLst>
              <a:ext uri="{FF2B5EF4-FFF2-40B4-BE49-F238E27FC236}">
                <a16:creationId xmlns:a16="http://schemas.microsoft.com/office/drawing/2014/main" id="{E263E0EE-2DB2-DC19-315B-6644378F72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9747" y="36936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48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A3F8-F4CE-86FC-F383-3F64DDF8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1D9A-8CDC-F472-B562-4D4D1323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765" y="770552"/>
            <a:ext cx="9169725" cy="770360"/>
          </a:xfrm>
        </p:spPr>
        <p:txBody>
          <a:bodyPr/>
          <a:lstStyle/>
          <a:p>
            <a:r>
              <a:rPr lang="en-US"/>
              <a:t>Team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8979D-53CF-2970-F754-514D0B4B96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45265" y="1870718"/>
            <a:ext cx="4390387" cy="2195922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r>
              <a:rPr lang="en-US" sz="1600"/>
              <a:t>August Connors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Update student profile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Added PUT requests in frontend API calls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User guide documentation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Demo video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0974B-A56C-0650-B120-C15ECD8E57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AB8982-2D29-3236-833F-E3CEBC70FD0C}"/>
              </a:ext>
            </a:extLst>
          </p:cNvPr>
          <p:cNvSpPr txBox="1">
            <a:spLocks/>
          </p:cNvSpPr>
          <p:nvPr/>
        </p:nvSpPr>
        <p:spPr>
          <a:xfrm>
            <a:off x="6058686" y="1868789"/>
            <a:ext cx="4453017" cy="1955720"/>
          </a:xfrm>
          <a:prstGeom prst="rect">
            <a:avLst/>
          </a:prstGeom>
        </p:spPr>
        <p:txBody>
          <a:bodyPr vert="horz" lIns="0" tIns="0" rIns="0" bIns="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Casey Derringer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Connected student view to backend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Development documentation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Generated sample lesson and component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Docker cont. vulnerability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77A5E7-4207-F6DE-55D5-7ECADAEBED60}"/>
              </a:ext>
            </a:extLst>
          </p:cNvPr>
          <p:cNvSpPr txBox="1">
            <a:spLocks/>
          </p:cNvSpPr>
          <p:nvPr/>
        </p:nvSpPr>
        <p:spPr>
          <a:xfrm>
            <a:off x="1380705" y="4074491"/>
            <a:ext cx="4462542" cy="229644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/>
              <a:t>Minseok</a:t>
            </a:r>
            <a:r>
              <a:rPr lang="en-US" sz="1600"/>
              <a:t> Kim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Implemented Authentication and Authorization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Implemented login features (Google, Apple)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Deployment documentation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1CBF2F-C867-589F-3A95-B376B2FC4208}"/>
              </a:ext>
            </a:extLst>
          </p:cNvPr>
          <p:cNvSpPr txBox="1">
            <a:spLocks/>
          </p:cNvSpPr>
          <p:nvPr/>
        </p:nvSpPr>
        <p:spPr>
          <a:xfrm>
            <a:off x="6037972" y="4069396"/>
            <a:ext cx="4473731" cy="1904067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Ryan McCulley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Endpoint testing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Sprint Planning and Structuring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Testing Documentation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Domain name, SSL, Route 53 on AWS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1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DD27D0-5B6E-4A0E-95B2-BB37F9D8861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Tutor Nation Sprint 3             Presentation</vt:lpstr>
      <vt:lpstr>Project Reminder</vt:lpstr>
      <vt:lpstr>Project Backlog Highlights</vt:lpstr>
      <vt:lpstr>Sprint 3 Goals</vt:lpstr>
      <vt:lpstr>Sprint 3 Backlog</vt:lpstr>
      <vt:lpstr>PowerPoint Presentation</vt:lpstr>
      <vt:lpstr>Remaining Work</vt:lpstr>
      <vt:lpstr>Accessibility Considerations</vt:lpstr>
      <vt:lpstr>Team Contributions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2026-03-21T16:27:07Z</dcterms:created>
  <dcterms:modified xsi:type="dcterms:W3CDTF">2026-04-21T17:26:18Z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